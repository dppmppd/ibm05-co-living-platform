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4756394" y="1273968"/>
            <a:ext cx="7131844" cy="2429351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0116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1F3656"/>
                </a:solidFill>
                <a:latin typeface="Aptos"/>
              </a:defRPr>
            </a:pPr>
            <a:r>
              <a:t>CoLiving | 전체 서비스 이용 흐름 및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1813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646e78"/>
                </a:solidFill>
                <a:latin typeface="Aptos"/>
              </a:defRPr>
            </a:pPr>
            <a:r>
              <a:rPr lang="en-US" altLang="ko-KR"/>
              <a:t>사용자 요청은 Gateway를 통해 4개 핵심 서비스로 전달되며, 서비스별 데이터와 공통 운영 인프라</a:t>
            </a:r>
            <a:endParaRPr lang="en-US" altLang="ko-K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645920" cy="59436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200" b="1">
                <a:solidFill>
                  <a:srgbClr val="1F3656"/>
                </a:solidFill>
                <a:latin typeface="Aptos"/>
              </a:defRPr>
            </a:pPr>
            <a:r>
              <a:t>입주자 / 사용자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1645920" cy="59436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200" b="1">
                <a:solidFill>
                  <a:srgbClr val="1F3656"/>
                </a:solidFill>
                <a:latin typeface="Aptos"/>
              </a:defRPr>
            </a:pPr>
            <a:r>
              <a:t>관리자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783080"/>
            <a:ext cx="1828800" cy="731520"/>
          </a:xfrm>
          <a:prstGeom prst="roundRect">
            <a:avLst/>
          </a:prstGeom>
          <a:solidFill>
            <a:srgbClr val="F2F5F8"/>
          </a:solidFill>
          <a:ln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200" b="1">
                <a:solidFill>
                  <a:srgbClr val="1F3656"/>
                </a:solidFill>
                <a:latin typeface="Aptos"/>
              </a:defRPr>
            </a:pPr>
            <a:r>
              <a:t>API Gateway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1F3656"/>
                </a:solidFill>
                <a:latin typeface="Aptos"/>
              </a:defRPr>
            </a:pPr>
            <a:r>
              <a:t>라우팅 · 인증 검증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1709928"/>
            <a:ext cx="502920" cy="256032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286000" y="2331720"/>
            <a:ext cx="502920" cy="201168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66360" y="1417320"/>
            <a:ext cx="1417320" cy="105156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Member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회원 · 로그인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프로필 · 권한</a:t>
            </a:r>
          </a:p>
        </p:txBody>
      </p:sp>
      <p:sp>
        <p:nvSpPr>
          <p:cNvPr id="13" name="Can 12"/>
          <p:cNvSpPr/>
          <p:nvPr/>
        </p:nvSpPr>
        <p:spPr>
          <a:xfrm>
            <a:off x="5212080" y="2743200"/>
            <a:ext cx="1325880" cy="438912"/>
          </a:xfrm>
          <a:prstGeom prst="can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1">
                <a:solidFill>
                  <a:srgbClr val="1F3656"/>
                </a:solidFill>
                <a:latin typeface="Aptos"/>
              </a:defRPr>
            </a:pPr>
            <a:r>
              <a:t>Member DB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79592" y="2468880"/>
            <a:ext cx="0" cy="27432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766560" y="1417320"/>
            <a:ext cx="1417320" cy="1051560"/>
          </a:xfrm>
          <a:prstGeom prst="roundRect">
            <a:avLst/>
          </a:prstGeom>
          <a:solidFill>
            <a:srgbClr val="E1F3F0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Housing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건물 · 방 조회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시설 예약</a:t>
            </a:r>
          </a:p>
        </p:txBody>
      </p:sp>
      <p:sp>
        <p:nvSpPr>
          <p:cNvPr id="17" name="Can 16"/>
          <p:cNvSpPr/>
          <p:nvPr/>
        </p:nvSpPr>
        <p:spPr>
          <a:xfrm>
            <a:off x="6812280" y="2743200"/>
            <a:ext cx="1325880" cy="438912"/>
          </a:xfrm>
          <a:prstGeom prst="can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1">
                <a:solidFill>
                  <a:srgbClr val="1F3656"/>
                </a:solidFill>
                <a:latin typeface="Aptos"/>
              </a:defRPr>
            </a:pPr>
            <a:r>
              <a:t>Housing DB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79792" y="2468880"/>
            <a:ext cx="0" cy="27432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66760" y="1417320"/>
            <a:ext cx="1417320" cy="105156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Contract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계약 · 청구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결제 · 환불</a:t>
            </a:r>
          </a:p>
        </p:txBody>
      </p:sp>
      <p:sp>
        <p:nvSpPr>
          <p:cNvPr id="21" name="Can 20"/>
          <p:cNvSpPr/>
          <p:nvPr/>
        </p:nvSpPr>
        <p:spPr>
          <a:xfrm>
            <a:off x="8412480" y="2743200"/>
            <a:ext cx="1325880" cy="438912"/>
          </a:xfrm>
          <a:prstGeom prst="can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1">
                <a:solidFill>
                  <a:srgbClr val="1F3656"/>
                </a:solidFill>
                <a:latin typeface="Aptos"/>
              </a:defRPr>
            </a:pPr>
            <a:r>
              <a:t>Contract DB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79992" y="2468880"/>
            <a:ext cx="0" cy="27432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66960" y="1417320"/>
            <a:ext cx="1417320" cy="1051560"/>
          </a:xfrm>
          <a:prstGeom prst="roundRect">
            <a:avLst/>
          </a:prstGeom>
          <a:solidFill>
            <a:srgbClr val="E6F4EA"/>
          </a:solidFill>
          <a:ln>
            <a:solidFill>
              <a:srgbClr val="3F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Community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공지 · 알림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채팅 · AI 챗봇</a:t>
            </a:r>
          </a:p>
        </p:txBody>
      </p:sp>
      <p:sp>
        <p:nvSpPr>
          <p:cNvPr id="25" name="Can 24"/>
          <p:cNvSpPr/>
          <p:nvPr/>
        </p:nvSpPr>
        <p:spPr>
          <a:xfrm>
            <a:off x="10012680" y="2743200"/>
            <a:ext cx="1325880" cy="438912"/>
          </a:xfrm>
          <a:prstGeom prst="can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1">
                <a:solidFill>
                  <a:srgbClr val="1F3656"/>
                </a:solidFill>
                <a:latin typeface="Aptos"/>
              </a:defRPr>
            </a:pPr>
            <a:r>
              <a:t>Community DB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2468880"/>
            <a:ext cx="0" cy="27432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60" y="342900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00" b="1">
                <a:solidFill>
                  <a:srgbClr val="2C8484"/>
                </a:solidFill>
                <a:latin typeface="Aptos"/>
              </a:defRPr>
            </a:pPr>
            <a:r>
              <a:t>AI 챗봇은 필요한 계약·시설 정보를 해당 서비스에서 조회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77639"/>
            <a:ext cx="3383280" cy="82296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100" b="1">
                <a:solidFill>
                  <a:srgbClr val="1F3656"/>
                </a:solidFill>
                <a:latin typeface="Aptos"/>
              </a:defRPr>
            </a:pPr>
            <a:r>
              <a:t>JWT 인증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1F3656"/>
                </a:solidFill>
                <a:latin typeface="Aptos"/>
              </a:defRPr>
            </a:pPr>
            <a:r>
              <a:t>Access Token · Refresh Token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977639"/>
            <a:ext cx="3383280" cy="822960"/>
          </a:xfrm>
          <a:prstGeom prst="roundRect">
            <a:avLst/>
          </a:prstGeom>
          <a:solidFill>
            <a:srgbClr val="E1F3F0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100" b="1">
                <a:solidFill>
                  <a:srgbClr val="1F3656"/>
                </a:solidFill>
                <a:latin typeface="Aptos"/>
              </a:defRPr>
            </a:pPr>
            <a:r>
              <a:t>로그 · 모니터링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1F3656"/>
                </a:solidFill>
                <a:latin typeface="Aptos"/>
              </a:defRPr>
            </a:pPr>
            <a:r>
              <a:t>Elasticsearch · Kibana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977639"/>
            <a:ext cx="3383280" cy="82296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100" b="1">
                <a:solidFill>
                  <a:srgbClr val="1F3656"/>
                </a:solidFill>
                <a:latin typeface="Aptos"/>
              </a:defRPr>
            </a:pPr>
            <a:r>
              <a:t>배포 환경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1F3656"/>
                </a:solidFill>
                <a:latin typeface="Aptos"/>
              </a:defRPr>
            </a:pPr>
            <a:r>
              <a:t>OpenShift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166360"/>
            <a:ext cx="106984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0">
                <a:solidFill>
                  <a:srgbClr val="646E78"/>
                </a:solidFill>
                <a:latin typeface="Aptos"/>
              </a:defRPr>
            </a:pPr>
            <a:r>
              <a:t>설계 원칙: 서비스별 데이터 소유권 분리 · 관리자 기능은 권한 기반 접근 · 공통 인프라는 서비스 전반을 지원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65392"/>
            <a:ext cx="64008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700" b="0">
                <a:solidFill>
                  <a:srgbClr val="646E78"/>
                </a:solidFill>
                <a:latin typeface="Aptos"/>
              </a:defRPr>
            </a:pPr>
            <a:r>
              <a:t>1 / 6</a:t>
            </a:r>
          </a:p>
        </p:txBody>
      </p:sp>
      <p:cxnSp>
        <p:nvCxnSpPr>
          <p:cNvPr id="34" name=""/>
          <p:cNvCxnSpPr/>
          <p:nvPr/>
        </p:nvCxnSpPr>
        <p:spPr>
          <a:xfrm>
            <a:off x="4617720" y="2240280"/>
            <a:ext cx="138674" cy="0"/>
          </a:xfrm>
          <a:prstGeom prst="line">
            <a:avLst/>
          </a:prstGeom>
          <a:ln>
            <a:solidFill>
              <a:srgbClr val="818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1F3656"/>
                </a:solidFill>
                <a:latin typeface="Aptos"/>
              </a:defRPr>
            </a:pPr>
            <a:r>
              <a:t>Member Service | 회원 및 인증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1463040" cy="594360"/>
          </a:xfrm>
          <a:prstGeom prst="roundRect">
            <a:avLst/>
          </a:prstGeom>
          <a:solidFill>
            <a:srgbClr val="F2F5F8"/>
          </a:solidFill>
          <a:ln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100" b="1">
                <a:solidFill>
                  <a:srgbClr val="1F3656"/>
                </a:solidFill>
                <a:latin typeface="Aptos"/>
              </a:defRPr>
            </a:pPr>
            <a:r>
              <a:t>서비스 접속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508760"/>
            <a:ext cx="1645920" cy="59436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100" b="1">
                <a:solidFill>
                  <a:srgbClr val="1F3656"/>
                </a:solidFill>
                <a:latin typeface="Aptos"/>
              </a:defRPr>
            </a:pPr>
            <a:r>
              <a:t>로그인 상태 확인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57400" y="1801368"/>
            <a:ext cx="45720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0" y="1280160"/>
            <a:ext cx="1645920" cy="640080"/>
          </a:xfrm>
          <a:prstGeom prst="roundRect">
            <a:avLst/>
          </a:prstGeom>
          <a:solidFill>
            <a:srgbClr val="E1F3F0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200" b="1">
                <a:solidFill>
                  <a:srgbClr val="1F3656"/>
                </a:solidFill>
                <a:latin typeface="Aptos"/>
              </a:defRPr>
            </a:pPr>
            <a:r>
              <a:t>회원가입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1645920" cy="64008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200" b="1">
                <a:solidFill>
                  <a:srgbClr val="1F3656"/>
                </a:solidFill>
                <a:latin typeface="Aptos"/>
              </a:defRPr>
            </a:pPr>
            <a:r>
              <a:t>로그인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280160"/>
            <a:ext cx="1828800" cy="640080"/>
          </a:xfrm>
          <a:prstGeom prst="roundRect">
            <a:avLst/>
          </a:prstGeom>
          <a:solidFill>
            <a:srgbClr val="E1F3F0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입력값·중복 검증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148840"/>
            <a:ext cx="1828800" cy="64008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계정 정보 검증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17920" y="1600200"/>
            <a:ext cx="41148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17920" y="2468880"/>
            <a:ext cx="41148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0" y="1691640"/>
            <a:ext cx="2103120" cy="73152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100" b="1">
                <a:solidFill>
                  <a:srgbClr val="1F3656"/>
                </a:solidFill>
                <a:latin typeface="Aptos"/>
              </a:defRPr>
            </a:pPr>
            <a:r>
              <a:t>Access + Refresh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1F3656"/>
                </a:solidFill>
                <a:latin typeface="Aptos"/>
              </a:defRPr>
            </a:pPr>
            <a:r>
              <a:t>Token 발급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58200" y="1600200"/>
            <a:ext cx="685800" cy="274319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458200" y="2240280"/>
            <a:ext cx="685800" cy="22860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3657600"/>
            <a:ext cx="2103120" cy="68580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API 요청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657600"/>
            <a:ext cx="2103120" cy="68580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Access Token 검증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657600"/>
            <a:ext cx="2103120" cy="68580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Refresh Token 검증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3657600"/>
            <a:ext cx="2103120" cy="68580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재발급 또는 재로그인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34639" y="3995928"/>
            <a:ext cx="640081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77840" y="3995928"/>
            <a:ext cx="64008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21040" y="3995928"/>
            <a:ext cx="64008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286000" y="4937760"/>
            <a:ext cx="2743200" cy="64008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100" b="1">
                <a:solidFill>
                  <a:srgbClr val="1F3656"/>
                </a:solidFill>
                <a:latin typeface="Aptos"/>
              </a:defRPr>
            </a:pPr>
            <a:r>
              <a:t>프로필 조회 · 수정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937760"/>
            <a:ext cx="3200400" cy="640080"/>
          </a:xfrm>
          <a:prstGeom prst="roundRect">
            <a:avLst/>
          </a:prstGeom>
          <a:solidFill>
            <a:srgbClr val="FAE9E9"/>
          </a:solidFill>
          <a:ln>
            <a:solidFill>
              <a:srgbClr val="B1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로그아웃 · Refresh Token 폐기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657600" y="4343400"/>
            <a:ext cx="914400" cy="59436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15200" y="4343400"/>
            <a:ext cx="685800" cy="59436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" y="5897880"/>
            <a:ext cx="10515600" cy="2164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00" b="0">
                <a:solidFill>
                  <a:srgbClr val="646e78"/>
                </a:solidFill>
                <a:latin typeface="Aptos"/>
              </a:defRPr>
            </a:pPr>
            <a:r>
              <a:rPr lang="en-US" altLang="ko-KR" sz="1200">
                <a:solidFill>
                  <a:srgbClr val="000000"/>
                </a:solidFill>
              </a:rPr>
              <a:t>후순위: OAuth2 소셜 로그인은 기본 인증 흐름과 분리해 추가</a:t>
            </a: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972800" y="6565392"/>
            <a:ext cx="64008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700" b="0">
                <a:solidFill>
                  <a:srgbClr val="646E78"/>
                </a:solidFill>
                <a:latin typeface="Aptos"/>
              </a:defRPr>
            </a:pPr>
            <a:r>
              <a:t>2 / 6</a:t>
            </a:r>
          </a:p>
        </p:txBody>
      </p:sp>
      <p:cxnSp>
        <p:nvCxnSpPr>
          <p:cNvPr id="33" name=""/>
          <p:cNvCxnSpPr>
            <a:stCxn id="7" idx="3"/>
            <a:endCxn id="9" idx="1"/>
          </p:cNvCxnSpPr>
          <p:nvPr/>
        </p:nvCxnSpPr>
        <p:spPr>
          <a:xfrm flipV="1">
            <a:off x="4160520" y="1600200"/>
            <a:ext cx="411480" cy="205740"/>
          </a:xfrm>
          <a:prstGeom prst="bentConnector3">
            <a:avLst>
              <a:gd name="adj1" fmla="val 50000"/>
            </a:avLst>
          </a:prstGeom>
          <a:ln w="6350">
            <a:solidFill>
              <a:srgbClr val="818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"/>
          <p:cNvCxnSpPr>
            <a:stCxn id="7" idx="3"/>
            <a:endCxn id="10" idx="1"/>
          </p:cNvCxnSpPr>
          <p:nvPr/>
        </p:nvCxnSpPr>
        <p:spPr>
          <a:xfrm>
            <a:off x="4160520" y="1805940"/>
            <a:ext cx="411480" cy="662940"/>
          </a:xfrm>
          <a:prstGeom prst="bentConnector3">
            <a:avLst>
              <a:gd name="adj1" fmla="val 50000"/>
            </a:avLst>
          </a:prstGeom>
          <a:ln w="6350">
            <a:solidFill>
              <a:srgbClr val="818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1F3656"/>
                </a:solidFill>
                <a:latin typeface="Aptos"/>
              </a:defRPr>
            </a:pPr>
            <a:r>
              <a:t>Housing Service | 주거 정보 및 시설 예약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937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436FA8"/>
                </a:solidFill>
                <a:latin typeface="Aptos"/>
              </a:defRPr>
            </a:pPr>
            <a:r>
              <a:t>A. 건물 · 방 조회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508760" cy="68580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건물 목록 조회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828800"/>
            <a:ext cx="1508760" cy="68580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방 목록 · 상세 조회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1508760" cy="68580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정보 확인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2167128"/>
            <a:ext cx="27432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60" y="2167128"/>
            <a:ext cx="27432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0" y="1325880"/>
            <a:ext cx="4937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1">
                <a:solidFill>
                  <a:srgbClr val="2C8484"/>
                </a:solidFill>
                <a:latin typeface="Aptos"/>
              </a:defRPr>
            </a:pPr>
            <a:r>
              <a:t>B. 공용 시설 예약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1463040" cy="685800"/>
          </a:xfrm>
          <a:prstGeom prst="roundRect">
            <a:avLst/>
          </a:prstGeom>
          <a:solidFill>
            <a:srgbClr val="E1F3F0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시설 목록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조회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1463040" cy="685800"/>
          </a:xfrm>
          <a:prstGeom prst="roundRect">
            <a:avLst/>
          </a:prstGeom>
          <a:solidFill>
            <a:srgbClr val="E1F3F0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날짜·시간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선택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828800"/>
            <a:ext cx="1463040" cy="68580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예약 가능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여부 확인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63840" y="2167128"/>
            <a:ext cx="22860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555480" y="2167128"/>
            <a:ext cx="22860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49440" y="2971800"/>
            <a:ext cx="2011680" cy="64008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최종 중복 예약 검증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2971800"/>
            <a:ext cx="1828800" cy="640080"/>
          </a:xfrm>
          <a:prstGeom prst="roundRect">
            <a:avLst/>
          </a:prstGeom>
          <a:solidFill>
            <a:srgbClr val="E6F4EA"/>
          </a:solidFill>
          <a:ln>
            <a:solidFill>
              <a:srgbClr val="3F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예약 저장 · 확정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0" y="3291840"/>
            <a:ext cx="50292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0" y="4160520"/>
            <a:ext cx="2194560" cy="68580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내 예약 조회 · 변경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4160520"/>
            <a:ext cx="2194560" cy="685800"/>
          </a:xfrm>
          <a:prstGeom prst="roundRect">
            <a:avLst/>
          </a:prstGeom>
          <a:solidFill>
            <a:srgbClr val="FAE9E9"/>
          </a:solidFill>
          <a:ln>
            <a:solidFill>
              <a:srgbClr val="B1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예약 취소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3749039"/>
            <a:ext cx="2560320" cy="77724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관리자: 운영시간·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시설 점검 일정 관리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394960" y="2514600"/>
            <a:ext cx="1371600" cy="160020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53492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00" b="0">
                <a:solidFill>
                  <a:srgbClr val="646E78"/>
                </a:solidFill>
                <a:latin typeface="Aptos"/>
              </a:defRPr>
            </a:pPr>
            <a:r>
              <a:t>예약 저장 직전에 중복 여부를 다시 확인하고, 시설 점검 시간은 예약 불가 시간으로 반영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65392"/>
            <a:ext cx="64008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700" b="0">
                <a:solidFill>
                  <a:srgbClr val="646E78"/>
                </a:solidFill>
                <a:latin typeface="Aptos"/>
              </a:defRPr>
            </a:pPr>
            <a:r>
              <a:t>3 / 6</a:t>
            </a:r>
          </a:p>
        </p:txBody>
      </p:sp>
      <p:cxnSp>
        <p:nvCxnSpPr>
          <p:cNvPr id="30" name=""/>
          <p:cNvCxnSpPr>
            <a:stCxn id="19" idx="2"/>
            <a:endCxn id="23" idx="0"/>
          </p:cNvCxnSpPr>
          <p:nvPr/>
        </p:nvCxnSpPr>
        <p:spPr>
          <a:xfrm rot="5400000">
            <a:off x="9989820" y="3771900"/>
            <a:ext cx="548640" cy="228600"/>
          </a:xfrm>
          <a:prstGeom prst="bentConnector3">
            <a:avLst>
              <a:gd name="adj1" fmla="val 50000"/>
            </a:avLst>
          </a:prstGeom>
          <a:ln w="6350">
            <a:solidFill>
              <a:srgbClr val="818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"/>
          <p:cNvCxnSpPr>
            <a:stCxn id="19" idx="2"/>
            <a:endCxn id="22" idx="0"/>
          </p:cNvCxnSpPr>
          <p:nvPr/>
        </p:nvCxnSpPr>
        <p:spPr>
          <a:xfrm rot="5400000">
            <a:off x="8663942" y="2446018"/>
            <a:ext cx="548640" cy="2880364"/>
          </a:xfrm>
          <a:prstGeom prst="bentConnector3">
            <a:avLst>
              <a:gd name="adj1" fmla="val 50000"/>
            </a:avLst>
          </a:prstGeom>
          <a:ln w="6350">
            <a:solidFill>
              <a:srgbClr val="818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"/>
          <p:cNvCxnSpPr>
            <a:stCxn id="15" idx="2"/>
            <a:endCxn id="18" idx="0"/>
          </p:cNvCxnSpPr>
          <p:nvPr/>
        </p:nvCxnSpPr>
        <p:spPr>
          <a:xfrm rot="5400000">
            <a:off x="9006842" y="1463038"/>
            <a:ext cx="457199" cy="2560324"/>
          </a:xfrm>
          <a:prstGeom prst="bentConnector3">
            <a:avLst>
              <a:gd name="adj1" fmla="val 50000"/>
            </a:avLst>
          </a:prstGeom>
          <a:ln w="6350">
            <a:solidFill>
              <a:srgbClr val="818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1F3656"/>
                </a:solidFill>
                <a:latin typeface="Aptos"/>
              </a:defRPr>
            </a:pPr>
            <a:r>
              <a:t>Contract Service | 계약·청구·결제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646E78"/>
                </a:solidFill>
                <a:latin typeface="Aptos"/>
              </a:defRPr>
            </a:pPr>
            <a:r>
              <a:t>계약 상태, 정기 청구, 결제 결과와 중도 해지·환불을 구분한 흐름입니다.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1325880" cy="73152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계약 신청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508760"/>
            <a:ext cx="1417320" cy="73152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기간·금액·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보증금 설정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508760"/>
            <a:ext cx="1417320" cy="73152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승인 및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계약 확정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508760"/>
            <a:ext cx="1417320" cy="731520"/>
          </a:xfrm>
          <a:prstGeom prst="roundRect">
            <a:avLst/>
          </a:prstGeom>
          <a:solidFill>
            <a:srgbClr val="E1F3F0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계약서·청구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일정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508760"/>
            <a:ext cx="1417320" cy="731520"/>
          </a:xfrm>
          <a:prstGeom prst="roundRect">
            <a:avLst/>
          </a:prstGeom>
          <a:solidFill>
            <a:srgbClr val="E1F3F0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청구서 생성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및 안내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08760"/>
            <a:ext cx="1325880" cy="731520"/>
          </a:xfrm>
          <a:prstGeom prst="roundRect">
            <a:avLst/>
          </a:prstGeom>
          <a:solidFill>
            <a:srgbClr val="E6F4EA"/>
          </a:solidFill>
          <a:ln>
            <a:solidFill>
              <a:srgbClr val="3F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사용자 결제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1874519"/>
            <a:ext cx="18288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37560" y="1874519"/>
            <a:ext cx="18288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1874519"/>
            <a:ext cx="18288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59" y="1874519"/>
            <a:ext cx="182881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38160" y="1874519"/>
            <a:ext cx="18288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8400" y="1508760"/>
            <a:ext cx="1508760" cy="731520"/>
          </a:xfrm>
          <a:prstGeom prst="roundRect">
            <a:avLst/>
          </a:prstGeom>
          <a:solidFill>
            <a:srgbClr val="E6F4EA"/>
          </a:solidFill>
          <a:ln>
            <a:solidFill>
              <a:srgbClr val="3F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결제 성공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46920" y="1874519"/>
            <a:ext cx="41148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21040" y="2651760"/>
            <a:ext cx="1554480" cy="640080"/>
          </a:xfrm>
          <a:prstGeom prst="roundRect">
            <a:avLst/>
          </a:prstGeom>
          <a:solidFill>
            <a:srgbClr val="FAE9E9"/>
          </a:solidFill>
          <a:ln>
            <a:solidFill>
              <a:srgbClr val="B1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1">
                <a:solidFill>
                  <a:srgbClr val="1F3656"/>
                </a:solidFill>
                <a:latin typeface="Aptos"/>
              </a:defRPr>
            </a:pPr>
            <a:r>
              <a:t>결제 실패 · 미납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61120" y="2240280"/>
            <a:ext cx="0" cy="41148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21040" y="3520440"/>
            <a:ext cx="1554480" cy="59436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재결제 안내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98280" y="3291840"/>
            <a:ext cx="0" cy="22860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2743200"/>
            <a:ext cx="69494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1">
                <a:solidFill>
                  <a:srgbClr val="1F3656"/>
                </a:solidFill>
                <a:latin typeface="Aptos"/>
              </a:defRPr>
            </a:pPr>
            <a:r>
              <a:t>계약 유지 중 발생하는 업무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246120"/>
            <a:ext cx="1920240" cy="68580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계약 연장 신청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기간·금액 재확인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3246120"/>
            <a:ext cx="1920240" cy="68580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중도 해지 신청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246120"/>
            <a:ext cx="2011680" cy="68580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해지 조건·정산 확인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54880" y="3584448"/>
            <a:ext cx="27432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834640" y="4389120"/>
            <a:ext cx="1920240" cy="640080"/>
          </a:xfrm>
          <a:prstGeom prst="roundRect">
            <a:avLst/>
          </a:prstGeom>
          <a:solidFill>
            <a:srgbClr val="FAE9E9"/>
          </a:solidFill>
          <a:ln>
            <a:solidFill>
              <a:srgbClr val="B1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해지 확정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4389120"/>
            <a:ext cx="2011680" cy="640080"/>
          </a:xfrm>
          <a:prstGeom prst="roundRect">
            <a:avLst/>
          </a:prstGeom>
          <a:solidFill>
            <a:srgbClr val="FAE9E9"/>
          </a:solidFill>
          <a:ln>
            <a:solidFill>
              <a:srgbClr val="B1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환불 대상 산정·처리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4389120"/>
            <a:ext cx="2011680" cy="640080"/>
          </a:xfrm>
          <a:prstGeom prst="roundRect">
            <a:avLst/>
          </a:prstGeom>
          <a:solidFill>
            <a:srgbClr val="F2F5F8"/>
          </a:solidFill>
          <a:ln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계약 종료 처리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3794760" y="3931920"/>
            <a:ext cx="2240280" cy="45720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754880" y="4709160"/>
            <a:ext cx="27432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40880" y="4709160"/>
            <a:ext cx="457199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3520" y="5577840"/>
            <a:ext cx="6309359" cy="450723"/>
          </a:xfrm>
          <a:prstGeom prst="rect">
            <a:avLst/>
          </a:prstGeom>
          <a:noFill/>
        </p:spPr>
        <p:txBody>
          <a:bodyPr wrap="square" lIns="36576" tIns="18288" rIns="36576" bIns="18288" anchor="ctr" anchorCtr="0">
            <a:noAutofit/>
          </a:bodyPr>
          <a:lstStyle/>
          <a:p>
            <a:pPr algn="ctr">
              <a:defRPr sz="900" b="0">
                <a:solidFill>
                  <a:srgbClr val="646e78"/>
                </a:solidFill>
                <a:latin typeface="Aptos"/>
              </a:defRPr>
            </a:pPr>
            <a:r>
              <a:rPr lang="en-US" altLang="ko-KR"/>
              <a:t>정기 청구서 자동 생성과 실제 결제 실행은 별도 처리 · 환불 완료 여부도 별도 기록</a:t>
            </a:r>
            <a:endParaRPr lang="en-US" altLang="ko-KR"/>
          </a:p>
        </p:txBody>
      </p:sp>
      <p:sp>
        <p:nvSpPr>
          <p:cNvPr id="35" name="TextBox 34"/>
          <p:cNvSpPr txBox="1"/>
          <p:nvPr/>
        </p:nvSpPr>
        <p:spPr>
          <a:xfrm>
            <a:off x="10972800" y="6565392"/>
            <a:ext cx="64008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700" b="0">
                <a:solidFill>
                  <a:srgbClr val="646E78"/>
                </a:solidFill>
                <a:latin typeface="Aptos"/>
              </a:defRPr>
            </a:pPr>
            <a:r>
              <a:t>4 / 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1F3656"/>
                </a:solidFill>
                <a:latin typeface="Aptos"/>
              </a:defRPr>
            </a:pPr>
            <a:r>
              <a:t>Community Service | 공지·알림·채팅·AI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331720" cy="59436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200" b="1">
                <a:solidFill>
                  <a:srgbClr val="1F3656"/>
                </a:solidFill>
                <a:latin typeface="Aptos"/>
              </a:defRPr>
            </a:pPr>
            <a:r>
              <a:t>공지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2331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공지 목록 조회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953512"/>
            <a:ext cx="2331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공지 상세 조회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666744"/>
            <a:ext cx="2331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관리자 등록·수정·삭제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331720" cy="594360"/>
          </a:xfrm>
          <a:prstGeom prst="roundRect">
            <a:avLst/>
          </a:prstGeom>
          <a:solidFill>
            <a:srgbClr val="E1F3F0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200" b="1">
                <a:solidFill>
                  <a:srgbClr val="1F3656"/>
                </a:solidFill>
                <a:latin typeface="Aptos"/>
              </a:defRPr>
            </a:pPr>
            <a:r>
              <a:t>알림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240280"/>
            <a:ext cx="2331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알림 목록 조회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953512"/>
            <a:ext cx="2331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실시간 알림 수신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3666744"/>
            <a:ext cx="2331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읽음 상태 변경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331720" cy="59436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200" b="1">
                <a:solidFill>
                  <a:srgbClr val="1F3656"/>
                </a:solidFill>
                <a:latin typeface="Aptos"/>
              </a:defRPr>
            </a:pPr>
            <a:r>
              <a:t>채팅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240280"/>
            <a:ext cx="2331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채팅방 선택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953512"/>
            <a:ext cx="2331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WebSocket 연결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666744"/>
            <a:ext cx="2331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메시지 저장·전달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379976"/>
            <a:ext cx="2331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이전 메시지 조회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417320"/>
            <a:ext cx="2331720" cy="594360"/>
          </a:xfrm>
          <a:prstGeom prst="roundRect">
            <a:avLst/>
          </a:prstGeom>
          <a:solidFill>
            <a:srgbClr val="E6F4EA"/>
          </a:solidFill>
          <a:ln>
            <a:solidFill>
              <a:srgbClr val="3F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200" b="1">
                <a:solidFill>
                  <a:srgbClr val="1F3656"/>
                </a:solidFill>
                <a:latin typeface="Aptos"/>
              </a:defRPr>
            </a:pPr>
            <a:r>
              <a:t>AI 챗봇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240280"/>
            <a:ext cx="2331720" cy="5303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f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rPr lang="en-US" altLang="ko-KR"/>
              <a:t>입주자 </a:t>
            </a:r>
            <a:r>
              <a:rPr lang="ko-KR" altLang="en-US"/>
              <a:t>여부</a:t>
            </a:r>
            <a:r>
              <a:rPr lang="en-US" altLang="ko-KR"/>
              <a:t> 확인</a:t>
            </a:r>
            <a:endParaRPr lang="en-US" altLang="ko-KR"/>
          </a:p>
        </p:txBody>
      </p:sp>
      <p:sp>
        <p:nvSpPr>
          <p:cNvPr id="21" name="Rounded Rectangle 20"/>
          <p:cNvSpPr/>
          <p:nvPr/>
        </p:nvSpPr>
        <p:spPr>
          <a:xfrm>
            <a:off x="9235440" y="2953512"/>
            <a:ext cx="2331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3F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질문 유형 분류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3666744"/>
            <a:ext cx="2331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3F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Contract / Housing / FAQ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4379976"/>
            <a:ext cx="2331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3F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t>근거 기반 답변·이력 저장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394960"/>
            <a:ext cx="8412480" cy="594360"/>
          </a:xfrm>
          <a:prstGeom prst="roundRect">
            <a:avLst/>
          </a:prstGeom>
          <a:solidFill>
            <a:srgbClr val="F2F5F8"/>
          </a:solidFill>
          <a:ln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공통: 인증 사용자 기준 접근 제어 · 메시지와 챗봇 대화 이력 저장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65392"/>
            <a:ext cx="64008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700" b="0">
                <a:solidFill>
                  <a:srgbClr val="646E78"/>
                </a:solidFill>
                <a:latin typeface="Aptos"/>
              </a:defRPr>
            </a:pPr>
            <a:r>
              <a:t>5 / 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5074920" y="1017032"/>
            <a:ext cx="5743575" cy="1890011"/>
          </a:xfrm>
          <a:prstGeom prst="roundRect">
            <a:avLst>
              <a:gd name="adj" fmla="val 16667"/>
            </a:avLst>
          </a:prstGeom>
          <a:solidFill>
            <a:srgbClr val="d9d9d9">
              <a:alpha val="100000"/>
            </a:srgbClr>
          </a:solidFill>
          <a:ln w="9525" cap="flat" cmpd="sng" algn="ctr">
            <a:solidFill>
              <a:srgbClr val="80808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2920" y="201168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1F3656"/>
                </a:solidFill>
                <a:latin typeface="Aptos"/>
              </a:defRPr>
            </a:pPr>
            <a:r>
              <a:t>관리자 기능 및 운영 인프라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646E78"/>
                </a:solidFill>
                <a:latin typeface="Aptos"/>
              </a:defRPr>
            </a:pPr>
            <a:r>
              <a:t>관리자는 역할 기반으로 각 서비스의 관리 기능에 접근하며, 운영 인프라는 전체 서비스를 지원합니다.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645920" cy="64008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100" b="1">
                <a:solidFill>
                  <a:srgbClr val="1F3656"/>
                </a:solidFill>
                <a:latin typeface="Aptos"/>
              </a:defRPr>
            </a:pPr>
            <a:r>
              <a:t>관리자 로그인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25880"/>
            <a:ext cx="2011680" cy="64008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t>JWT · 관리자 권한 검증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1645920"/>
            <a:ext cx="45720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03520" y="1234440"/>
            <a:ext cx="1645920" cy="594360"/>
          </a:xfrm>
          <a:prstGeom prst="roundRect">
            <a:avLst/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1">
                <a:solidFill>
                  <a:srgbClr val="1F3656"/>
                </a:solidFill>
                <a:latin typeface="Aptos"/>
              </a:defRPr>
            </a:pPr>
            <a:r>
              <a:t>회원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234440"/>
            <a:ext cx="1645920" cy="594360"/>
          </a:xfrm>
          <a:prstGeom prst="roundRect">
            <a:avLst/>
          </a:prstGeom>
          <a:solidFill>
            <a:srgbClr val="E1F3F0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1">
                <a:solidFill>
                  <a:srgbClr val="1F3656"/>
                </a:solidFill>
                <a:latin typeface="Aptos"/>
              </a:defRPr>
            </a:pPr>
            <a:r>
              <a:t>건물·방·시설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234440"/>
            <a:ext cx="1645920" cy="594360"/>
          </a:xfrm>
          <a:prstGeom prst="roundRect">
            <a:avLst/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1">
                <a:solidFill>
                  <a:srgbClr val="1F3656"/>
                </a:solidFill>
                <a:latin typeface="Aptos"/>
              </a:defRPr>
            </a:pPr>
            <a:r>
              <a:t>계약·결제·환불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2148840"/>
            <a:ext cx="1645920" cy="594360"/>
          </a:xfrm>
          <a:prstGeom prst="roundRect">
            <a:avLst/>
          </a:prstGeom>
          <a:solidFill>
            <a:srgbClr val="E6F4EA"/>
          </a:solidFill>
          <a:ln>
            <a:solidFill>
              <a:srgbClr val="3F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1">
                <a:solidFill>
                  <a:srgbClr val="1F3656"/>
                </a:solidFill>
                <a:latin typeface="Aptos"/>
              </a:defRPr>
            </a:pPr>
            <a:r>
              <a:t>공지 관리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148840"/>
            <a:ext cx="1645920" cy="594360"/>
          </a:xfrm>
          <a:prstGeom prst="roundRect">
            <a:avLst/>
          </a:prstGeom>
          <a:solidFill>
            <a:srgbClr val="E1F3F0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1">
                <a:solidFill>
                  <a:srgbClr val="1F3656"/>
                </a:solidFill>
                <a:latin typeface="Aptos"/>
              </a:defRPr>
            </a:pPr>
            <a:r>
              <a:t>예약·점검 일정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148840"/>
            <a:ext cx="1645920" cy="594360"/>
          </a:xfrm>
          <a:prstGeom prst="roundRect">
            <a:avLst/>
          </a:prstGeom>
          <a:solidFill>
            <a:srgbClr val="F2F5F8"/>
          </a:solidFill>
          <a:ln>
            <a:solidFill>
              <a:srgbClr val="1F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  <a:defRPr sz="900" b="1">
                <a:solidFill>
                  <a:srgbClr val="1F3656"/>
                </a:solidFill>
                <a:latin typeface="Aptos"/>
              </a:defRPr>
            </a:pPr>
            <a:r>
              <a:t>통계·현황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94271"/>
            <a:ext cx="10515600" cy="2316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1">
                <a:solidFill>
                  <a:srgbClr val="1f3656"/>
                </a:solidFill>
                <a:latin typeface="Aptos"/>
              </a:defRPr>
            </a:pPr>
            <a:r>
              <a:rPr lang="en-US" altLang="ko-KR"/>
              <a:t>로그 · 모니터링</a:t>
            </a:r>
            <a:endParaRPr lang="en-US" altLang="ko-KR"/>
          </a:p>
        </p:txBody>
      </p:sp>
      <p:sp>
        <p:nvSpPr>
          <p:cNvPr id="22" name="Rounded Rectangle 21"/>
          <p:cNvSpPr/>
          <p:nvPr/>
        </p:nvSpPr>
        <p:spPr>
          <a:xfrm>
            <a:off x="731520" y="4105751"/>
            <a:ext cx="1828800" cy="777240"/>
          </a:xfrm>
          <a:prstGeom prst="roundRect">
            <a:avLst>
              <a:gd name="adj" fmla="val 16667"/>
            </a:avLst>
          </a:prstGeom>
          <a:solidFill>
            <a:srgbClr val="e7f0fa"/>
          </a:solidFill>
          <a:ln>
            <a:solidFill>
              <a:srgbClr val="43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rPr lang="en-US" altLang="ko-KR"/>
              <a:t>Spring Boot 서비스</a:t>
            </a:r>
            <a:endParaRPr lang="en-US" altLang="ko-KR"/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rPr lang="en-US" altLang="ko-KR"/>
              <a:t>구조화 로그</a:t>
            </a:r>
            <a:endParaRPr lang="en-US" altLang="ko-KR"/>
          </a:p>
        </p:txBody>
      </p:sp>
      <p:sp>
        <p:nvSpPr>
          <p:cNvPr id="23" name="Rounded Rectangle 22"/>
          <p:cNvSpPr/>
          <p:nvPr/>
        </p:nvSpPr>
        <p:spPr>
          <a:xfrm>
            <a:off x="3017520" y="4105751"/>
            <a:ext cx="1828800" cy="777240"/>
          </a:xfrm>
          <a:prstGeom prst="roundRect">
            <a:avLst>
              <a:gd name="adj" fmla="val 16667"/>
            </a:avLst>
          </a:prstGeom>
          <a:solidFill>
            <a:srgbClr val="e1f3f0"/>
          </a:solidFill>
          <a:ln>
            <a:solidFill>
              <a:srgbClr val="2c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rPr lang="en-US" altLang="ko-KR"/>
              <a:t>수집·전달</a:t>
            </a:r>
            <a:endParaRPr lang="en-US" altLang="ko-KR"/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rPr lang="en-US" altLang="ko-KR"/>
              <a:t>Filebeat / Logstash</a:t>
            </a:r>
            <a:endParaRPr lang="en-US" altLang="ko-KR"/>
          </a:p>
        </p:txBody>
      </p:sp>
      <p:sp>
        <p:nvSpPr>
          <p:cNvPr id="24" name="Rounded Rectangle 23"/>
          <p:cNvSpPr/>
          <p:nvPr/>
        </p:nvSpPr>
        <p:spPr>
          <a:xfrm>
            <a:off x="5303520" y="4105751"/>
            <a:ext cx="1828800" cy="777240"/>
          </a:xfrm>
          <a:prstGeom prst="roundRect">
            <a:avLst>
              <a:gd name="adj" fmla="val 16667"/>
            </a:avLst>
          </a:prstGeom>
          <a:solidFill>
            <a:srgbClr val="faf3de"/>
          </a:solidFill>
          <a:ln>
            <a:solidFill>
              <a:srgbClr val="be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rPr lang="en-US" altLang="ko-KR"/>
              <a:t>Elasticsearch</a:t>
            </a:r>
            <a:endParaRPr lang="en-US" altLang="ko-KR"/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rPr lang="en-US" altLang="ko-KR"/>
              <a:t>저장·검색</a:t>
            </a:r>
            <a:endParaRPr lang="en-US" altLang="ko-KR"/>
          </a:p>
        </p:txBody>
      </p:sp>
      <p:sp>
        <p:nvSpPr>
          <p:cNvPr id="25" name="Rounded Rectangle 24"/>
          <p:cNvSpPr/>
          <p:nvPr/>
        </p:nvSpPr>
        <p:spPr>
          <a:xfrm>
            <a:off x="7589520" y="4105751"/>
            <a:ext cx="1828800" cy="777240"/>
          </a:xfrm>
          <a:prstGeom prst="roundRect">
            <a:avLst>
              <a:gd name="adj" fmla="val 16667"/>
            </a:avLst>
          </a:prstGeom>
          <a:solidFill>
            <a:srgbClr val="e6f4ea"/>
          </a:solidFill>
          <a:ln>
            <a:solidFill>
              <a:srgbClr val="3f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spcAft>
                <a:spcPts val="0"/>
              </a:spcAft>
              <a:defRPr sz="1000" b="1">
                <a:solidFill>
                  <a:srgbClr val="1f3656"/>
                </a:solidFill>
                <a:latin typeface="Aptos"/>
              </a:defRPr>
            </a:pPr>
            <a:r>
              <a:rPr lang="en-US" altLang="ko-KR"/>
              <a:t>Kibana</a:t>
            </a:r>
            <a:endParaRPr lang="en-US" altLang="ko-KR"/>
          </a:p>
          <a:p>
            <a:pPr algn="ctr">
              <a:spcAft>
                <a:spcPts val="0"/>
              </a:spcAft>
              <a:defRPr sz="900" b="0">
                <a:solidFill>
                  <a:srgbClr val="1f3656"/>
                </a:solidFill>
                <a:latin typeface="Aptos"/>
              </a:defRPr>
            </a:pPr>
            <a:r>
              <a:rPr lang="en-US" altLang="ko-KR"/>
              <a:t>대시보드</a:t>
            </a:r>
            <a:endParaRPr lang="en-US" altLang="ko-KR"/>
          </a:p>
        </p:txBody>
      </p:sp>
      <p:cxnSp>
        <p:nvCxnSpPr>
          <p:cNvPr id="26" name="Connector 25"/>
          <p:cNvCxnSpPr/>
          <p:nvPr/>
        </p:nvCxnSpPr>
        <p:spPr>
          <a:xfrm>
            <a:off x="2560320" y="4489799"/>
            <a:ext cx="45720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46320" y="4489799"/>
            <a:ext cx="45720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32320" y="4489799"/>
            <a:ext cx="457200" cy="0"/>
          </a:xfrm>
          <a:prstGeom prst="line">
            <a:avLst/>
          </a:prstGeom>
          <a:ln w="1778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972800" y="6565392"/>
            <a:ext cx="64008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700" b="0">
                <a:solidFill>
                  <a:srgbClr val="646E78"/>
                </a:solidFill>
                <a:latin typeface="Aptos"/>
              </a:defRPr>
            </a:pPr>
            <a:r>
              <a:t>6 / 6</a:t>
            </a:r>
          </a:p>
        </p:txBody>
      </p:sp>
      <p:cxnSp>
        <p:nvCxnSpPr>
          <p:cNvPr id="41" name=""/>
          <p:cNvCxnSpPr>
            <a:stCxn id="7" idx="3"/>
          </p:cNvCxnSpPr>
          <p:nvPr/>
        </p:nvCxnSpPr>
        <p:spPr>
          <a:xfrm>
            <a:off x="4754880" y="1645920"/>
            <a:ext cx="320040" cy="0"/>
          </a:xfrm>
          <a:prstGeom prst="line">
            <a:avLst/>
          </a:prstGeom>
          <a:ln w="6350">
            <a:solidFill>
              <a:srgbClr val="818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418</ep:Words>
  <ep:PresentationFormat>On-screen Show (4:3)</ep:PresentationFormat>
  <ep:Paragraphs>136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hi22</cp:lastModifiedBy>
  <dcterms:modified xsi:type="dcterms:W3CDTF">2026-10-21T09:14:22.974</dcterms:modified>
  <cp:revision>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